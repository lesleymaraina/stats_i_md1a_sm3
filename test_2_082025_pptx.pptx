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Probability in Biomedical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Sampling to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previous lecture, we introduced four statistical concepts:</a:t>
            </a:r>
          </a:p>
          <a:p>
            <a:pPr lvl="0"/>
            <a:r>
              <a:rPr b="1"/>
              <a:t>population</a:t>
            </a:r>
            <a:r>
              <a:rPr/>
              <a:t> — the complete set of units or outcomes of interest</a:t>
            </a:r>
            <a:br/>
          </a:p>
          <a:p>
            <a:pPr lvl="0"/>
            <a:r>
              <a:rPr b="1"/>
              <a:t>sample</a:t>
            </a:r>
            <a:r>
              <a:rPr/>
              <a:t> — the observed subset drawn from the population</a:t>
            </a:r>
            <a:br/>
          </a:p>
          <a:p>
            <a:pPr lvl="0"/>
            <a:r>
              <a:rPr b="1"/>
              <a:t>parameter</a:t>
            </a:r>
            <a:r>
              <a:rPr/>
              <a:t> — a numerical characteristic of the population</a:t>
            </a:r>
            <a:br/>
          </a:p>
          <a:p>
            <a:pPr lvl="0"/>
            <a:r>
              <a:rPr b="1"/>
              <a:t>statistic</a:t>
            </a:r>
            <a:r>
              <a:rPr/>
              <a:t> — a numerical summary computed from the sample</a:t>
            </a:r>
          </a:p>
          <a:p>
            <a:pPr lvl="0" indent="0" marL="0">
              <a:buNone/>
            </a:pPr>
            <a:r>
              <a:rPr/>
              <a:t>Probability provides the framework that explains:</a:t>
            </a:r>
          </a:p>
          <a:p>
            <a:pPr lvl="0"/>
            <a:r>
              <a:rPr/>
              <a:t>why samples vary</a:t>
            </a:r>
            <a:br/>
          </a:p>
          <a:p>
            <a:pPr lvl="0"/>
            <a:r>
              <a:rPr/>
              <a:t>how statistics fluctuate across repeated samples</a:t>
            </a:r>
            <a:br/>
          </a:p>
          <a:p>
            <a:pPr lvl="0"/>
            <a:r>
              <a:rPr/>
              <a:t>how parameters can be inferred from observed data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Biomedical Data Analysis and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Biomedical systems exhibit inherent variability:</a:t>
            </a:r>
          </a:p>
          <a:p>
            <a:pPr lvl="0"/>
            <a:r>
              <a:rPr/>
              <a:t>patients differ biologically and environmentally</a:t>
            </a:r>
            <a:br/>
          </a:p>
          <a:p>
            <a:pPr lvl="0"/>
            <a:r>
              <a:rPr/>
              <a:t>measurements contain technical variation</a:t>
            </a:r>
            <a:br/>
          </a:p>
          <a:p>
            <a:pPr lvl="0"/>
            <a:r>
              <a:rPr/>
              <a:t>disease processes evolve stochastically</a:t>
            </a:r>
          </a:p>
          <a:p>
            <a:pPr lvl="0"/>
            <a:r>
              <a:rPr/>
              <a:t>probability is a framework that can be used to describe this variability</a:t>
            </a:r>
          </a:p>
          <a:p>
            <a:pPr lvl="0"/>
            <a:r>
              <a:rPr/>
              <a:t>biomedical data analysis often begins by specifying probabilistic models for outcomes</a:t>
            </a:r>
          </a:p>
          <a:p>
            <a:pPr lvl="0" indent="0" marL="0">
              <a:buNone/>
            </a:pPr>
            <a:r>
              <a:rPr/>
              <a:t>Probability models allow researchers to:</a:t>
            </a:r>
          </a:p>
          <a:p>
            <a:pPr lvl="0"/>
            <a:r>
              <a:rPr/>
              <a:t>represent uncertainty</a:t>
            </a:r>
          </a:p>
          <a:p>
            <a:pPr lvl="0"/>
            <a:r>
              <a:rPr/>
              <a:t>describe how data arise</a:t>
            </a:r>
            <a:br/>
          </a:p>
          <a:p>
            <a:pPr lvl="0"/>
            <a:r>
              <a:rPr/>
              <a:t>quantify expected variability across individuals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Probability: Defnition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 measure of how likely an event is to occur</a:t>
                </a:r>
                <a:br/>
              </a:p>
              <a:p>
                <a:pPr lvl="0"/>
                <a:r>
                  <a:rPr/>
                  <a:t>interpreted through long-run relative frequency under repeated trials</a:t>
                </a:r>
              </a:p>
              <a:p>
                <a:pPr lvl="0"/>
                <a:r>
                  <a:rPr/>
                  <a:t>the mathematical representation of uncertainty in data-generating processes</a:t>
                </a:r>
              </a:p>
              <a:p>
                <a:pPr lvl="0" indent="0" marL="0">
                  <a:buNone/>
                </a:pPr>
                <a:r>
                  <a:rPr/>
                  <a:t>Formally: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0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m:t>≤</m:t>
                      </m:r>
                      <m:r>
                        <m:t>1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Probability assigns a numerical measure to uncertainty about an event, where:</a:t>
                </a:r>
              </a:p>
              <a:p>
                <a:pPr lvl="0"/>
                <a:r>
                  <a:rPr/>
                  <a:t>0 : the event does not occur</a:t>
                </a:r>
                <a:br/>
              </a:p>
              <a:p>
                <a:pPr lvl="0"/>
                <a:r>
                  <a:rPr/>
                  <a:t>1 : the event will occur with some degree of certainty</a:t>
                </a:r>
                <a:br/>
              </a:p>
              <a:p>
                <a:pPr lvl="0"/>
                <a:r>
                  <a:rPr/>
                  <a:t>intermediate values quantify uncertainty</a:t>
                </a:r>
                <a:br/>
              </a:p>
              <a:p>
                <a:pPr lvl="0"/>
                <a:r>
                  <a:rPr/>
                  <a:t>values between 0 and 1 quantify the degree of uncertainty</a:t>
                </a:r>
              </a:p>
              <a:p>
                <a:pPr lvl="0" indent="0" marL="0">
                  <a:buNone/>
                </a:pPr>
                <a:r>
                  <a:rPr/>
                  <a:t>Biomedical examples:</a:t>
                </a:r>
              </a:p>
              <a:p>
                <a:pPr lvl="0"/>
                <a:r>
                  <a:rPr/>
                  <a:t>Probability a patient responds to treatment</a:t>
                </a:r>
              </a:p>
              <a:p>
                <a:pPr lvl="0"/>
                <a:r>
                  <a:rPr/>
                  <a:t>Probability a variant is observed in a population</a:t>
                </a:r>
              </a:p>
              <a:p>
                <a:pPr lvl="0"/>
                <a:r>
                  <a:rPr/>
                  <a:t>Probability of disease occurrence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and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Population parameters often represent probabilities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mutation prevalence in a population</a:t>
            </a:r>
            <a:br/>
          </a:p>
          <a:p>
            <a:pPr lvl="0"/>
            <a:r>
              <a:rPr/>
              <a:t>treatment response probability</a:t>
            </a:r>
            <a:br/>
          </a:p>
          <a:p>
            <a:pPr lvl="0"/>
            <a:r>
              <a:rPr/>
              <a:t>disease incidence risk</a:t>
            </a:r>
          </a:p>
          <a:p>
            <a:pPr lvl="0" indent="0" marL="0">
              <a:buNone/>
            </a:pPr>
            <a:r>
              <a:rPr/>
              <a:t>Parameters describe the population probability distribution</a:t>
            </a:r>
          </a:p>
          <a:p>
            <a:pPr lvl="0" indent="0" marL="0">
              <a:buNone/>
            </a:pPr>
            <a:r>
              <a:rPr/>
              <a:t>Because parameters are unobserved:</a:t>
            </a:r>
          </a:p>
          <a:p>
            <a:pPr lvl="0"/>
            <a:r>
              <a:rPr/>
              <a:t>samples are collected</a:t>
            </a:r>
            <a:br/>
          </a:p>
          <a:p>
            <a:pPr lvl="0"/>
            <a:r>
              <a:rPr/>
              <a:t>statistics are computed</a:t>
            </a:r>
            <a:br/>
          </a:p>
          <a:p>
            <a:pPr lvl="0"/>
            <a:r>
              <a:rPr/>
              <a:t>probability explains variability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and Statistics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relationship between probability and statistics can be summarized as:</a:t>
                </a:r>
              </a:p>
              <a:p>
                <a:pPr lvl="0"/>
                <a:r>
                  <a:rPr b="1"/>
                  <a:t>probability</a:t>
                </a:r>
                <a:r>
                  <a:rPr/>
                  <a:t> — describes population behavior and data generation</a:t>
                </a:r>
                <a:br/>
              </a:p>
              <a:p>
                <a:pPr lvl="0"/>
                <a:r>
                  <a:rPr b="1"/>
                  <a:t>statistics</a:t>
                </a:r>
                <a:r>
                  <a:rPr/>
                  <a:t> — uses samples to learn about probability structure</a:t>
                </a:r>
              </a:p>
              <a:p>
                <a:pPr lvl="0" indent="0" marL="0">
                  <a:buNone/>
                </a:pPr>
                <a:r>
                  <a:rPr/>
                  <a:t>Conceptually: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Probability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rPr>
                          <m:nor/>
                          <m:sty m:val="p"/>
                        </m:rPr>
                        <m:t>Sampling variability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rPr>
                          <m:nor/>
                          <m:sty m:val="p"/>
                        </m:rPr>
                        <m:t>Statistical inference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Probabiliy and statistics are linked to the following:</a:t>
                </a:r>
              </a:p>
              <a:p>
                <a:pPr lvl="0"/>
                <a:r>
                  <a:rPr/>
                  <a:t>sampling variability arises from probabilistic selection</a:t>
                </a:r>
              </a:p>
              <a:p>
                <a:pPr lvl="0"/>
                <a:r>
                  <a:rPr/>
                  <a:t>models assume outcomes follow probability distributions</a:t>
                </a:r>
                <a:br/>
              </a:p>
              <a:p>
                <a:pPr lvl="0"/>
                <a:r>
                  <a:rPr/>
                  <a:t>workflow begins with specifying outcome distribution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in Biomedicine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systems are variable</a:t>
            </a:r>
          </a:p>
          <a:p>
            <a:pPr lvl="0" indent="0" marL="0">
              <a:buNone/>
            </a:pPr>
            <a:r>
              <a:rPr/>
              <a:t>Even under identical conditions:</a:t>
            </a:r>
          </a:p>
          <a:p>
            <a:pPr lvl="0"/>
            <a:r>
              <a:rPr/>
              <a:t>Patients respond differently to treatment</a:t>
            </a:r>
            <a:br/>
          </a:p>
          <a:p>
            <a:pPr lvl="0"/>
            <a:r>
              <a:rPr/>
              <a:t>Cells express genes differently</a:t>
            </a:r>
            <a:br/>
          </a:p>
          <a:p>
            <a:pPr lvl="0"/>
            <a:r>
              <a:rPr/>
              <a:t>Disease progression varies</a:t>
            </a:r>
          </a:p>
          <a:p>
            <a:pPr lvl="0" indent="0" marL="0">
              <a:buNone/>
            </a:pPr>
            <a:r>
              <a:rPr/>
              <a:t>Probability provides a framework to model this variability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Transition to Formal Probability Concepts</a:t>
            </a:r>
          </a:p>
          <a:p>
            <a:pPr lvl="0" indent="0" marL="0">
              <a:buNone/>
            </a:pPr>
            <a:r>
              <a:rPr/>
              <a:t>Having established probability as the mechanism linking population and sample, we now introduce formal components of probability models:</a:t>
            </a:r>
          </a:p>
          <a:p>
            <a:pPr lvl="0"/>
            <a:r>
              <a:rPr/>
              <a:t>events and probability assignments</a:t>
            </a:r>
            <a:br/>
          </a:p>
          <a:p>
            <a:pPr lvl="0"/>
            <a:r>
              <a:rPr/>
              <a:t>random variables</a:t>
            </a:r>
            <a:br/>
          </a:p>
          <a:p>
            <a:pPr lvl="0"/>
            <a:r>
              <a:rPr/>
              <a:t>probability distributions</a:t>
            </a:r>
            <a:br/>
          </a:p>
          <a:p>
            <a:pPr lvl="0"/>
            <a:r>
              <a:rPr/>
              <a:t>discrete and continuous outcome structures</a:t>
            </a:r>
          </a:p>
          <a:p>
            <a:pPr lvl="0" indent="0" marL="0">
              <a:buNone/>
            </a:pPr>
            <a:r>
              <a:rPr/>
              <a:t>These objects allow biological uncertainty to be expressed mathematically and estimated from data.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Random Variables: Connecting Outcomes to Numbers</a:t>
            </a:r>
          </a:p>
          <a:p>
            <a:pPr lvl="0" indent="0" marL="0">
              <a:buNone/>
            </a:pPr>
            <a:r>
              <a:rPr b="1"/>
              <a:t>random variable</a:t>
            </a:r>
            <a:r>
              <a:rPr/>
              <a:t>:</a:t>
            </a:r>
          </a:p>
          <a:p>
            <a:pPr lvl="0"/>
            <a:r>
              <a:rPr/>
              <a:t>assigns a numerical value to the outcome of a random process</a:t>
            </a:r>
          </a:p>
          <a:p>
            <a:pPr lvl="0"/>
            <a:r>
              <a:rPr/>
              <a:t>repreent biological outcomes or values in the form of analyzable quantities</a:t>
            </a:r>
          </a:p>
          <a:p>
            <a:pPr lvl="0"/>
            <a:r>
              <a:rPr/>
              <a:t>numerical representation of an outcome whose value is determined by a probabilistic process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Variables: Representing Biomedical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random variables assign numerical values to outcomes generated by probabilistic processes</a:t>
            </a:r>
          </a:p>
          <a:p>
            <a:pPr lvl="0"/>
            <a:r>
              <a:rPr/>
              <a:t>random variables define the outcome layer of statistical models and serve as the objects whose distributions are studied.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mutation presence indicator</a:t>
            </a:r>
            <a:br/>
          </a:p>
          <a:p>
            <a:pPr lvl="0"/>
            <a:r>
              <a:rPr/>
              <a:t>treatment response category</a:t>
            </a:r>
            <a:br/>
          </a:p>
          <a:p>
            <a:pPr lvl="0"/>
            <a:r>
              <a:rPr/>
              <a:t>biomarker measurement value</a:t>
            </a:r>
            <a:br/>
          </a:p>
          <a:p>
            <a:pPr lvl="0"/>
            <a:r>
              <a:rPr/>
              <a:t>survival time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Random variable types in biomedicine</a:t>
                </a:r>
              </a:p>
              <a:p>
                <a:pPr lvl="0" indent="0" marL="0">
                  <a:buNone/>
                </a:pPr>
                <a:r>
                  <a:rPr/>
                  <a:t>Binary outcome: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mutation present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mutation absent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Categorical outcome: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rPr>
                          <m:nor/>
                          <m:sty m:val="p"/>
                        </m:rPr>
                        <m:t>CR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nor/>
                          <m:sty m:val="p"/>
                        </m:rPr>
                        <m:t>PR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nor/>
                          <m:sty m:val="p"/>
                        </m:rPr>
                        <m:t>NR</m:t>
                      </m:r>
                      <m:r>
                        <m:rPr>
                          <m:sty m:val="p"/>
                        </m:rPr>
                        <m:t>}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Continuous outcome: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tumor size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Binary random variables</a:t>
            </a:r>
          </a:p>
          <a:p>
            <a:pPr lvl="0" indent="0" marL="0">
              <a:buNone/>
            </a:pPr>
            <a:r>
              <a:rPr/>
              <a:t>Binary outcomes often represent presence/absence decisions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pathogenic variant present vs absent</a:t>
            </a:r>
          </a:p>
          <a:p>
            <a:pPr lvl="0"/>
            <a:r>
              <a:rPr/>
              <a:t>treatment response (yes/no)</a:t>
            </a:r>
          </a:p>
          <a:p>
            <a:pPr lvl="0"/>
            <a:r>
              <a:rPr/>
              <a:t>adverse event (yes/no)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Code example: simulate a binary mutation indicator</a:t>
                </a:r>
              </a:p>
              <a:p>
                <a:pPr lvl="0" indent="0" marL="0">
                  <a:buNone/>
                </a:pPr>
                <a:r>
                  <a:rPr b="1"/>
                  <a:t>Biomedical question</a:t>
                </a:r>
              </a:p>
              <a:p>
                <a:pPr lvl="0" indent="0" marL="0">
                  <a:buNone/>
                </a:pPr>
                <a:r>
                  <a:rPr/>
                  <a:t>What proportion of patients in a population carry a pathogenic mutation in a gene of interest?</a:t>
                </a:r>
              </a:p>
              <a:p>
                <a:pPr lvl="0" indent="0" marL="0">
                  <a:buNone/>
                </a:pPr>
                <a:r>
                  <a:rPr b="1"/>
                  <a:t>Population perspective</a:t>
                </a:r>
              </a:p>
              <a:p>
                <a:pPr lvl="0"/>
                <a:r>
                  <a:rPr/>
                  <a:t>each patient either carries the mutation (1) or does not (0)</a:t>
                </a:r>
                <a:br/>
              </a:p>
              <a:p>
                <a:pPr lvl="0"/>
                <a:r>
                  <a:rPr/>
                  <a:t>the population mutation prevalence is an unknown probability parameter (p)</a:t>
                </a:r>
                <a:br/>
              </a:p>
              <a:p>
                <a:pPr lvl="0"/>
                <a:r>
                  <a:rPr/>
                  <a:t>this setting is naturally modeled with a </a:t>
                </a:r>
                <a:r>
                  <a:rPr b="1"/>
                  <a:t>Bernoulli distribution</a:t>
                </a:r>
              </a:p>
              <a:p>
                <a:pPr lvl="0" indent="0" marL="0">
                  <a:buNone/>
                </a:pPr>
                <a:r>
                  <a:rPr/>
                  <a:t>Thus, for patient (i):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Bernoulli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p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Sampling and estimation</a:t>
                </a:r>
              </a:p>
              <a:p>
                <a:pPr lvl="0"/>
                <a:r>
                  <a:rPr/>
                  <a:t>a study observes (n) patients drawn from this population</a:t>
                </a:r>
                <a:br/>
              </a:p>
              <a:p>
                <a:pPr lvl="0"/>
                <a:r>
                  <a:rPr/>
                  <a:t>each observation is a Bernoulli trial</a:t>
                </a:r>
                <a:br/>
              </a:p>
              <a:p>
                <a:pPr lvl="0"/>
                <a:r>
                  <a:rPr/>
                  <a:t>the sample proportion estimates the population mutation probability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example: Binary Mutation Indicator</a:t>
            </a:r>
          </a:p>
          <a:p>
            <a:pPr lvl="0" indent="0" marL="0">
              <a:buNone/>
            </a:pPr>
            <a:r>
              <a:rPr/>
              <a:t>Explanation:</a:t>
            </a:r>
          </a:p>
          <a:p>
            <a:pPr lvl="0"/>
            <a:r>
              <a:rPr>
                <a:latin typeface="Courier"/>
              </a:rPr>
              <a:t>rbinom(n, 1, p)</a:t>
            </a:r>
            <a:r>
              <a:rPr/>
              <a:t> generates (n) independent Bernoulli outcomes</a:t>
            </a:r>
            <a:br/>
          </a:p>
          <a:p>
            <a:pPr lvl="0"/>
            <a:r>
              <a:rPr/>
              <a:t>mimics sampling patients from the population distribution</a:t>
            </a:r>
          </a:p>
          <a:p>
            <a:pPr lvl="0"/>
            <a:r>
              <a:rPr/>
              <a:t>each simulated patient outcome represents a draw from the population distribution, and the sample proportion summarizes these draws to estimate the population probability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/>
            <a:r>
              <a:rPr/>
              <a:t>a study observes </a:t>
            </a:r>
            <a:r>
              <a:rPr i="1"/>
              <a:t>n</a:t>
            </a:r>
            <a:r>
              <a:rPr/>
              <a:t> patients drawn from this population</a:t>
            </a:r>
            <a:br/>
          </a:p>
          <a:p>
            <a:pPr lvl="0"/>
            <a:r>
              <a:rPr/>
              <a:t>each patient outcome is a Bernoulli trial (mutation present or absent)</a:t>
            </a:r>
            <a:br/>
          </a:p>
          <a:p>
            <a:pPr lvl="0"/>
            <a:r>
              <a:rPr/>
              <a:t>the table summarizes observed counts and proportions across sampled patients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table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mutation     n  prop
     &lt;int&gt; &lt;int&gt; &lt;dbl&gt;
1        0   173 0.865
2        1    27 0.135</a:t>
            </a:r>
          </a:p>
          <a:p>
            <a:pPr lvl="0" indent="0" marL="0">
              <a:buNone/>
            </a:pPr>
            <a:r>
              <a:rPr/>
              <a:t>Interpretation:</a:t>
            </a:r>
          </a:p>
          <a:p>
            <a:pPr lvl="0" indent="0" marL="0">
              <a:buNone/>
            </a:pPr>
            <a:r>
              <a:rPr/>
              <a:t>mutation = 0 → 162 patients do not carry the mutation [81% of the sample]</a:t>
            </a:r>
          </a:p>
          <a:p>
            <a:pPr lvl="0" indent="0" marL="0">
              <a:buNone/>
            </a:pPr>
            <a:r>
              <a:rPr/>
              <a:t>mutation = 1 → 38 patients carry the mutation [19% of the sample]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random variables</a:t>
            </a:r>
          </a:p>
          <a:p>
            <a:pPr lvl="0" indent="0" marL="0">
              <a:buNone/>
            </a:pPr>
            <a:r>
              <a:rPr/>
              <a:t>Categorical outcomes represent membership in one of several classes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tumor subtype [LumA, LumB, HER2, Basal]</a:t>
            </a:r>
          </a:p>
          <a:p>
            <a:pPr lvl="0"/>
            <a:r>
              <a:rPr/>
              <a:t>response category [CR/PR/NR]</a:t>
            </a:r>
          </a:p>
          <a:p>
            <a:pPr lvl="0"/>
            <a:r>
              <a:rPr/>
              <a:t>lineage assignment in single-cell data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Code example:Clinical Trial Patient Responses</a:t>
                </a:r>
              </a:p>
              <a:p>
                <a:pPr lvl="0" indent="0" marL="0">
                  <a:buNone/>
                </a:pPr>
                <a:r>
                  <a:rPr b="1"/>
                  <a:t>Biomedical question</a:t>
                </a:r>
              </a:p>
              <a:p>
                <a:pPr lvl="0" indent="0" marL="0">
                  <a:buNone/>
                </a:pPr>
                <a:r>
                  <a:rPr/>
                  <a:t>In a clinical trial evaluating a new therapy, patients are classified into one of three mutually exclusive response categories:</a:t>
                </a:r>
              </a:p>
              <a:p>
                <a:pPr lvl="0"/>
                <a:r>
                  <a:rPr b="1"/>
                  <a:t>CR</a:t>
                </a:r>
                <a:r>
                  <a:rPr/>
                  <a:t> — complete response</a:t>
                </a:r>
                <a:br/>
              </a:p>
              <a:p>
                <a:pPr lvl="0"/>
                <a:r>
                  <a:rPr b="1"/>
                  <a:t>PR</a:t>
                </a:r>
                <a:r>
                  <a:rPr/>
                  <a:t> — partial response</a:t>
                </a:r>
                <a:br/>
              </a:p>
              <a:p>
                <a:pPr lvl="0"/>
                <a:r>
                  <a:rPr b="1"/>
                  <a:t>NR</a:t>
                </a:r>
                <a:r>
                  <a:rPr/>
                  <a:t> — no response</a:t>
                </a:r>
              </a:p>
              <a:p>
                <a:pPr lvl="0" indent="0" marL="0">
                  <a:buNone/>
                </a:pPr>
                <a:r>
                  <a:rPr b="1"/>
                  <a:t>Population perspective</a:t>
                </a:r>
              </a:p>
              <a:p>
                <a:pPr lvl="0" indent="0" marL="0">
                  <a:buNone/>
                </a:pPr>
                <a:r>
                  <a:rPr/>
                  <a:t>Across all eligible patients, treatment response follows a categorical probability distribution with unknown probabilities: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nor/>
                              <m:sty m:val="p"/>
                            </m:rPr>
                            <m:t>CR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C</m:t>
                          </m:r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nor/>
                              <m:sty m:val="p"/>
                            </m:rPr>
                            <m:t>PR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P</m:t>
                          </m:r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nor/>
                              <m:sty m:val="p"/>
                            </m:rPr>
                            <m:t>NR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N</m:t>
                          </m:r>
                          <m:r>
                            <m:t>R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probabilities describe the </a:t>
                </a:r>
                <a:r>
                  <a:rPr b="1"/>
                  <a:t>population response distribution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example:Clinical Trial Patient Responses</a:t>
            </a:r>
          </a:p>
          <a:p>
            <a:pPr lvl="0" indent="0" marL="0">
              <a:buNone/>
            </a:pPr>
            <a:r>
              <a:rPr b="1"/>
              <a:t>Sampling and estimation</a:t>
            </a:r>
          </a:p>
          <a:p>
            <a:pPr lvl="0"/>
            <a:r>
              <a:rPr/>
              <a:t>a study observes (n) patients drawn from this population</a:t>
            </a:r>
            <a:br/>
          </a:p>
          <a:p>
            <a:pPr lvl="0"/>
            <a:r>
              <a:rPr/>
              <a:t>each patient outcome represents one draw from the categorical distribution</a:t>
            </a:r>
            <a:br/>
          </a:p>
          <a:p>
            <a:pPr lvl="0"/>
            <a:r>
              <a:rPr/>
              <a:t>sample counts and proportions estimate the underlying response probabilities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levels_resp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probs_resp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response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(levels_resp,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n,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probs_resp)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tab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response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(response,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levels_resp))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(response)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prop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tab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3
  response     n  prop
  &lt;fct&gt;    &lt;int&gt; &lt;dbl&gt;
1 CR          59 0.197
2 PR         154 0.513
3 NR          87 0.29 </a:t>
            </a:r>
          </a:p>
          <a:p>
            <a:pPr lvl="0" indent="0" marL="0">
              <a:buNone/>
            </a:pPr>
            <a:r>
              <a:rPr/>
              <a:t>Interpretatioin:</a:t>
            </a:r>
          </a:p>
          <a:p>
            <a:pPr lvl="0" indent="0" marL="0">
              <a:buNone/>
            </a:pPr>
            <a:r>
              <a:rPr/>
              <a:t>For each response category:</a:t>
            </a:r>
          </a:p>
          <a:p>
            <a:pPr lvl="0"/>
            <a:r>
              <a:rPr b="1"/>
              <a:t>CR, PR, NR</a:t>
            </a:r>
            <a:r>
              <a:rPr/>
              <a:t> : possible treatment outcomes</a:t>
            </a:r>
            <a:br/>
          </a:p>
          <a:p>
            <a:pPr lvl="0"/>
            <a:r>
              <a:rPr b="1"/>
              <a:t>n</a:t>
            </a:r>
            <a:r>
              <a:rPr/>
              <a:t> : number of patients observed in that category [sample counts]</a:t>
            </a:r>
          </a:p>
          <a:p>
            <a:pPr lvl="0"/>
            <a:r>
              <a:rPr b="1"/>
              <a:t>prop</a:t>
            </a:r>
            <a:r>
              <a:rPr/>
              <a:t> : proportion of patients in that category [sample probabilities]</a:t>
            </a:r>
          </a:p>
          <a:p>
            <a:pPr lvl="0" indent="0" marL="0">
              <a:buNone/>
            </a:pPr>
            <a:r>
              <a:rPr/>
              <a:t>Treatment response outcomes among the 300 sampled patients:</a:t>
            </a:r>
          </a:p>
          <a:p>
            <a:pPr lvl="0" indent="0" marL="0">
              <a:buNone/>
            </a:pPr>
            <a:r>
              <a:rPr/>
              <a:t>Complete Response[CR]: 68 patients representing 22.7% of the sample</a:t>
            </a:r>
          </a:p>
          <a:p>
            <a:pPr lvl="0" indent="0" marL="0">
              <a:buNone/>
            </a:pPr>
            <a:r>
              <a:rPr/>
              <a:t>Partial Response [PR]: 155 patients representing 51.7% of the sample</a:t>
            </a:r>
          </a:p>
          <a:p>
            <a:pPr lvl="0" indent="0" marL="0">
              <a:buNone/>
            </a:pPr>
            <a:r>
              <a:rPr/>
              <a:t>No Response [NR]: 77 patients representing 25.7% of the sample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continuous outcomes arise from measurements on a scale</a:t>
            </a:r>
          </a:p>
          <a:p>
            <a:pPr lvl="0"/>
            <a:r>
              <a:rPr/>
              <a:t>modeled with densities</a:t>
            </a:r>
          </a:p>
          <a:p>
            <a:pPr lvl="0"/>
            <a:r>
              <a:rPr/>
              <a:t>associated models: linear regression and survival modeling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biomarker concentration</a:t>
            </a:r>
          </a:p>
          <a:p>
            <a:pPr lvl="0"/>
            <a:r>
              <a:rPr/>
              <a:t>tumor size</a:t>
            </a:r>
          </a:p>
          <a:p>
            <a:pPr lvl="0"/>
            <a:r>
              <a:rPr/>
              <a:t>expression level (after suitable transformation)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example: Continuous Biomarker</a:t>
            </a:r>
          </a:p>
          <a:p>
            <a:pPr lvl="0" indent="0" marL="0">
              <a:buNone/>
            </a:pPr>
            <a:r>
              <a:rPr b="1"/>
              <a:t>Biomedical context</a:t>
            </a:r>
          </a:p>
          <a:p>
            <a:pPr lvl="0"/>
            <a:r>
              <a:rPr/>
              <a:t>circulating tumor biomarker concentrations vary continuously across patients due to biological heterogeneity and measurement variability</a:t>
            </a:r>
            <a:br/>
          </a:p>
          <a:p>
            <a:pPr lvl="0"/>
            <a:r>
              <a:rPr/>
              <a:t>measurements arise from a population distribution characterized by a mean level and variability</a:t>
            </a:r>
          </a:p>
          <a:p>
            <a:pPr lvl="0"/>
            <a:r>
              <a:rPr>
                <a:latin typeface="Courier"/>
              </a:rPr>
              <a:t>rnorm()</a:t>
            </a:r>
            <a:r>
              <a:rPr/>
              <a:t>: simulates draws from a normal population distribution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biomarker &lt;-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mu,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sigma)</a:t>
            </a:r>
          </a:p>
          <a:p>
            <a:pPr lvl="0"/>
            <a:r>
              <a:rPr/>
              <a:t>each observation represents a sampled patient measurement</a:t>
            </a:r>
          </a:p>
          <a:p>
            <a:pPr lvl="0"/>
            <a:r>
              <a:rPr/>
              <a:t>histogram visualizes the empirical distribution observed in the sample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plot_cont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example: Continuous Biomarker</a:t>
            </a:r>
          </a:p>
          <a:p>
            <a:pPr lvl="0" indent="0" marL="0">
              <a:buNone/>
            </a:pPr>
            <a:r>
              <a:rPr/>
              <a:t>Explanation:</a:t>
            </a:r>
          </a:p>
          <a:p>
            <a:pPr lvl="0"/>
            <a:r>
              <a:rPr>
                <a:latin typeface="Courier"/>
              </a:rPr>
              <a:t>rnorm()</a:t>
            </a:r>
            <a:r>
              <a:rPr/>
              <a:t> simulates a continuous variable under a normal model</a:t>
            </a:r>
          </a:p>
          <a:p>
            <a:pPr lvl="0"/>
            <a:r>
              <a:rPr/>
              <a:t>biomarker concentration is the continuous random variable</a:t>
            </a:r>
          </a:p>
          <a:p>
            <a:pPr lvl="0"/>
            <a:r>
              <a:rPr/>
              <a:t>histogram shows the distribution of observed values in the sample</a:t>
            </a:r>
          </a:p>
          <a:p>
            <a:pPr lvl="0"/>
            <a:r>
              <a:rPr/>
              <a:t>each simulated value represents one patient biomarker measurement drawn from the population distribution</a:t>
            </a:r>
          </a:p>
          <a:p>
            <a:pPr lvl="0"/>
            <a:r>
              <a:rPr/>
              <a:t>histogram shows how these measurements are distributed across the cohort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plot_cont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Distributions as Models of Biological Variation</a:t>
            </a:r>
          </a:p>
          <a:p>
            <a:pPr lvl="0"/>
            <a:r>
              <a:rPr>
                <a:latin typeface="Courier"/>
              </a:rPr>
              <a:t>population distribution</a:t>
            </a:r>
            <a:r>
              <a:rPr/>
              <a:t>: describes how outcomes vary across all individuals in a population</a:t>
            </a:r>
          </a:p>
          <a:p>
            <a:pPr lvl="0"/>
            <a:r>
              <a:rPr/>
              <a:t>distributions represent the probabilistic structure of the population</a:t>
            </a:r>
          </a:p>
          <a:p>
            <a:pPr lvl="0"/>
            <a:r>
              <a:rPr/>
              <a:t>probability distributions specify:</a:t>
            </a:r>
          </a:p>
          <a:p>
            <a:pPr lvl="1"/>
            <a:r>
              <a:rPr/>
              <a:t>the possible values of a random variable</a:t>
            </a:r>
            <a:br/>
          </a:p>
          <a:p>
            <a:pPr lvl="1"/>
            <a:r>
              <a:rPr/>
              <a:t>the probability associated with each value</a:t>
            </a:r>
          </a:p>
          <a:p>
            <a:pPr lvl="0" indent="0" marL="0">
              <a:buNone/>
            </a:pPr>
            <a:r>
              <a:rPr/>
              <a:t>In a biomedical context, distributions characterize:</a:t>
            </a:r>
          </a:p>
          <a:p>
            <a:pPr lvl="0"/>
            <a:r>
              <a:rPr/>
              <a:t>variability across patients</a:t>
            </a:r>
            <a:br/>
          </a:p>
          <a:p>
            <a:pPr lvl="0"/>
            <a:r>
              <a:rPr/>
              <a:t>heterogeneity across cells</a:t>
            </a:r>
            <a:br/>
          </a:p>
          <a:p>
            <a:pPr lvl="0"/>
            <a:r>
              <a:rPr/>
              <a:t>variation across populations</a:t>
            </a:r>
          </a:p>
          <a:p>
            <a:pPr lvl="0"/>
            <a:r>
              <a:rPr/>
              <a:t>statistical inference aims to learn these distributions from sampled observations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Probability Distributions</a:t>
            </a:r>
          </a:p>
          <a:p>
            <a:pPr lvl="0" indent="0" marL="0">
              <a:buNone/>
            </a:pPr>
            <a:r>
              <a:rPr/>
              <a:t>A probability distribution specifies:</a:t>
            </a:r>
          </a:p>
          <a:p>
            <a:pPr lvl="0"/>
            <a:r>
              <a:rPr/>
              <a:t>represents the population and describe population behavior</a:t>
            </a:r>
          </a:p>
          <a:p>
            <a:pPr lvl="0"/>
            <a:r>
              <a:rPr/>
              <a:t>probability of each possible value of a random variable</a:t>
            </a:r>
          </a:p>
          <a:p>
            <a:pPr lvl="0"/>
            <a:r>
              <a:rPr/>
              <a:t>describes the behavior of the population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distribution of treatment response</a:t>
            </a:r>
          </a:p>
          <a:p>
            <a:pPr lvl="0"/>
            <a:r>
              <a:rPr/>
              <a:t>distribution of biomarker levels</a:t>
            </a:r>
          </a:p>
          <a:p>
            <a:pPr lvl="0"/>
            <a:r>
              <a:rPr/>
              <a:t>distribution of gene expression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Distributions Are Fundamental to Statistics</a:t>
            </a:r>
          </a:p>
          <a:p>
            <a:pPr lvl="0"/>
            <a:r>
              <a:rPr/>
              <a:t>statistical models assume observed data arise from an underlying probability distribution</a:t>
            </a:r>
          </a:p>
          <a:p>
            <a:pPr lvl="0"/>
            <a:r>
              <a:rPr/>
              <a:t>probability distributions: provide the mathematical representation of biological variability across individuals, cells, and populations</a:t>
            </a:r>
          </a:p>
          <a:p>
            <a:pPr lvl="0"/>
            <a:r>
              <a:rPr/>
              <a:t>distribution defines:</a:t>
            </a:r>
          </a:p>
          <a:p>
            <a:pPr lvl="1"/>
            <a:r>
              <a:rPr/>
              <a:t>possible outcomes</a:t>
            </a:r>
            <a:br/>
          </a:p>
          <a:p>
            <a:pPr lvl="1"/>
            <a:r>
              <a:rPr/>
              <a:t>how frequently those outcomes occur</a:t>
            </a:r>
            <a:br/>
          </a:p>
          <a:p>
            <a:pPr lvl="1"/>
            <a:r>
              <a:rPr/>
              <a:t>variability expected across individuals</a:t>
            </a:r>
          </a:p>
          <a:p>
            <a:pPr lvl="0" indent="0" marL="0">
              <a:buNone/>
            </a:pPr>
            <a:r>
              <a:rPr b="1"/>
              <a:t>Examples of outcome distributions in biomedical models</a:t>
            </a:r>
          </a:p>
          <a:p>
            <a:pPr lvl="0"/>
            <a:r>
              <a:rPr b="1"/>
              <a:t>logistic regression</a:t>
            </a:r>
            <a:r>
              <a:rPr/>
              <a:t>: assumes a </a:t>
            </a:r>
            <a:r>
              <a:rPr b="1"/>
              <a:t>Bernoulli distribution</a:t>
            </a:r>
            <a:r>
              <a:rPr/>
              <a:t> for binary outcomes [i.e.: response vs no response, mutation present vs absent]</a:t>
            </a:r>
          </a:p>
          <a:p>
            <a:pPr lvl="0"/>
            <a:r>
              <a:rPr b="1"/>
              <a:t>multinomial regression</a:t>
            </a:r>
            <a:r>
              <a:rPr/>
              <a:t>: assumes a </a:t>
            </a:r>
            <a:r>
              <a:rPr b="1"/>
              <a:t>categorical/multinomial distribution</a:t>
            </a:r>
            <a:br/>
            <a:r>
              <a:rPr/>
              <a:t>[i.e.: complete, partial, non-response categories, tumor subtype]</a:t>
            </a:r>
          </a:p>
          <a:p>
            <a:pPr lvl="0"/>
            <a:r>
              <a:rPr b="1"/>
              <a:t>survival analysis</a:t>
            </a:r>
            <a:r>
              <a:rPr/>
              <a:t>: assumes a </a:t>
            </a:r>
            <a:r>
              <a:rPr b="1"/>
              <a:t>time-to-event distribution</a:t>
            </a:r>
            <a:br/>
            <a:r>
              <a:rPr/>
              <a:t>[i.e.: exponential, Weibull, or Cox hazard-based models for survival time]</a:t>
            </a:r>
          </a:p>
          <a:p>
            <a:pPr lvl="0"/>
            <a:r>
              <a:rPr b="1"/>
              <a:t>variant frequency estimation</a:t>
            </a:r>
            <a:r>
              <a:rPr/>
              <a:t>: commonly assumes </a:t>
            </a:r>
            <a:r>
              <a:rPr b="1"/>
              <a:t>binomial or multinomial distributions</a:t>
            </a:r>
            <a:br/>
            <a:r>
              <a:rPr/>
              <a:t>[i.e.: allele counts, genotype counts in populations]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Distributions Describe Population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population distribution</a:t>
            </a:r>
            <a:r>
              <a:rPr/>
              <a:t>: describes how outcomes vary across all individuals or units in a population</a:t>
            </a:r>
          </a:p>
          <a:p>
            <a:pPr lvl="0"/>
            <a:r>
              <a:rPr/>
              <a:t>probability distribution specifies:</a:t>
            </a:r>
          </a:p>
          <a:p>
            <a:pPr lvl="1"/>
            <a:r>
              <a:rPr/>
              <a:t>the set of possible values a random variable can take</a:t>
            </a:r>
            <a:br/>
          </a:p>
          <a:p>
            <a:pPr lvl="1"/>
            <a:r>
              <a:rPr/>
              <a:t>the probability associated with each value (or range of values)</a:t>
            </a:r>
          </a:p>
          <a:p>
            <a:pPr lvl="0"/>
            <a:r>
              <a:rPr/>
              <a:t>distibutions represent the probability structure of the population</a:t>
            </a:r>
          </a:p>
          <a:p>
            <a:pPr lvl="0" indent="0" marL="0">
              <a:buNone/>
            </a:pPr>
            <a:r>
              <a:rPr/>
              <a:t>Example Interpretation:</a:t>
            </a:r>
          </a:p>
          <a:p>
            <a:pPr lvl="0"/>
            <a:r>
              <a:rPr/>
              <a:t>study first collects individual observations</a:t>
            </a:r>
          </a:p>
          <a:p>
            <a:pPr lvl="0"/>
            <a:r>
              <a:rPr/>
              <a:t>samples provide partial views of the population</a:t>
            </a:r>
          </a:p>
          <a:p>
            <a:pPr lvl="0"/>
            <a:r>
              <a:rPr/>
              <a:t>distribution describes long-run population behavior</a:t>
            </a:r>
          </a:p>
          <a:p>
            <a:pPr lvl="0" indent="0" marL="0">
              <a:buNone/>
            </a:pPr>
            <a:r>
              <a:rPr/>
              <a:t>Distributions vs Individual Observations</a:t>
            </a:r>
          </a:p>
          <a:p>
            <a:pPr lvl="0"/>
            <a:r>
              <a:rPr/>
              <a:t>individual observation: one patient tumor size</a:t>
            </a:r>
          </a:p>
          <a:p>
            <a:pPr lvl="0"/>
            <a:r>
              <a:rPr/>
              <a:t>distribution: all possible tumor sizes and their probabilities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Distributions Describe Population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Biomedical examples</a:t>
            </a:r>
          </a:p>
          <a:p>
            <a:pPr lvl="0"/>
            <a:r>
              <a:rPr/>
              <a:t>probability of treatment response categories [i.e.: complete, partial, nonresponse]</a:t>
            </a:r>
            <a:br/>
          </a:p>
          <a:p>
            <a:pPr lvl="0"/>
            <a:r>
              <a:rPr/>
              <a:t>distribution of biomarker concentrations across patients</a:t>
            </a:r>
            <a:br/>
          </a:p>
          <a:p>
            <a:pPr lvl="0"/>
            <a:r>
              <a:rPr/>
              <a:t>distribution of gene expression levels across cells</a:t>
            </a:r>
            <a:br/>
          </a:p>
          <a:p>
            <a:pPr lvl="0"/>
            <a:r>
              <a:rPr/>
              <a:t>prevalence distribution of pathogenic variants in a population</a:t>
            </a:r>
          </a:p>
          <a:p>
            <a:pPr lvl="0" indent="0" marL="0">
              <a:buNone/>
            </a:pPr>
            <a:r>
              <a:rPr b="1"/>
              <a:t>Relevance in biomedical research</a:t>
            </a:r>
          </a:p>
          <a:p>
            <a:pPr lvl="0" indent="0" marL="0">
              <a:buNone/>
            </a:pPr>
            <a:r>
              <a:rPr/>
              <a:t>Population distributions can be used to:</a:t>
            </a:r>
          </a:p>
          <a:p>
            <a:pPr lvl="0"/>
            <a:r>
              <a:rPr/>
              <a:t>quantify biological variability across individuals and systems</a:t>
            </a:r>
            <a:br/>
          </a:p>
          <a:p>
            <a:pPr lvl="0"/>
            <a:r>
              <a:rPr/>
              <a:t>define parameters of interest [means, proportions, rates, risks]</a:t>
            </a:r>
          </a:p>
          <a:p>
            <a:pPr lvl="0"/>
            <a:r>
              <a:rPr/>
              <a:t>determine expected sampling variability</a:t>
            </a:r>
          </a:p>
          <a:p>
            <a:pPr lvl="0"/>
            <a:r>
              <a:rPr/>
              <a:t>statistical approaches aim to learn the population distribution from sample data in order to make inferences about samples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 indent="0" marL="0">
              <a:buNone/>
            </a:pPr>
            <a:r>
              <a:rPr/>
              <a:t>Key concepts introduced:</a:t>
            </a:r>
          </a:p>
          <a:p>
            <a:pPr lvl="0"/>
            <a:r>
              <a:rPr/>
              <a:t>probability quantifies biological uncertainty and data generation</a:t>
            </a:r>
            <a:br/>
          </a:p>
          <a:p>
            <a:pPr lvl="0"/>
            <a:r>
              <a:rPr/>
              <a:t>random variables represent biomedical outcomes numerically</a:t>
            </a:r>
            <a:br/>
          </a:p>
          <a:p>
            <a:pPr lvl="0"/>
            <a:r>
              <a:rPr/>
              <a:t>probability distributions describe population behavior and variability</a:t>
            </a:r>
            <a:br/>
          </a:p>
          <a:p>
            <a:pPr lvl="0"/>
            <a:r>
              <a:rPr/>
              <a:t>sampling produces realizations from population distributions</a:t>
            </a:r>
            <a:br/>
          </a:p>
          <a:p>
            <a:pPr lvl="0"/>
            <a:r>
              <a:rPr/>
              <a:t>statistics summarize sampled outcomes</a:t>
            </a:r>
            <a:br/>
          </a:p>
          <a:p>
            <a:pPr lvl="0"/>
            <a:r>
              <a:rPr/>
              <a:t>inference uses samples to learn about underlying distributions</a:t>
            </a:r>
          </a:p>
          <a:p>
            <a:pPr lvl="0"/>
            <a:r>
              <a:rPr/>
              <a:t>concepts collectively establish the probabilistic foundation for regression, survival analysis, and biomedical data science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in Biomedical Data Science</dc:title>
  <dc:creator> Lesley Chapman Hannah, Ph.D., M.S. College of Graduate Studies Northeast Ohio Medical University</dc:creator>
  <cp:keywords/>
  <dcterms:created xsi:type="dcterms:W3CDTF">2026-03-02T01:29:06Z</dcterms:created>
  <dcterms:modified xsi:type="dcterms:W3CDTF">2026-03-02T01:29:06Z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